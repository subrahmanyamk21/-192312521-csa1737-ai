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592" y="-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194560" cy="2194560"/>
          </a:xfrm>
          <a:prstGeom prst="ellipse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2194560"/>
            <a:ext cx="1371600" cy="1371600"/>
          </a:xfrm>
          <a:prstGeom prst="ellipse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0" y="3931920"/>
            <a:ext cx="914400" cy="914400"/>
          </a:xfrm>
          <a:prstGeom prst="ellipse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4297680"/>
            <a:ext cx="731520" cy="731520"/>
          </a:xfrm>
          <a:prstGeom prst="ellipse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53035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19A09B"/>
                </a:solidFill>
                <a:latin typeface="Aptos"/>
              </a:defRPr>
            </a:pPr>
            <a:r>
              <a:t>AI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04088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LearnPath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713232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Personalized Course Recommendation Based on Student Skills and Interests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608" y="3563803"/>
            <a:ext cx="640080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0">
                <a:solidFill>
                  <a:srgbClr val="D6E0F2"/>
                </a:solidFill>
                <a:latin typeface="Aptos"/>
              </a:defRPr>
            </a:pPr>
            <a:r>
              <a:rPr dirty="0"/>
              <a:t>A content-based recommendation system that helps learners discover courses aligned with their skills, interests, and career goals.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09723"/>
            <a:ext cx="731520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D6E0F2"/>
                </a:solidFill>
                <a:latin typeface="Aptos"/>
              </a:defRPr>
            </a:pPr>
            <a:r>
              <a:rPr lang="en-IN" dirty="0"/>
              <a:t>K Subrahmanyam (192312521)</a:t>
            </a:r>
          </a:p>
          <a:p>
            <a:pPr>
              <a:defRPr sz="1200" b="0">
                <a:solidFill>
                  <a:srgbClr val="D6E0F2"/>
                </a:solidFill>
                <a:latin typeface="Aptos"/>
              </a:defRPr>
            </a:pPr>
            <a:r>
              <a:rPr lang="en-IN" dirty="0"/>
              <a:t>M Manoj kumar (192312438)</a:t>
            </a:r>
          </a:p>
          <a:p>
            <a:pPr>
              <a:defRPr sz="1200" b="0">
                <a:solidFill>
                  <a:srgbClr val="D6E0F2"/>
                </a:solidFill>
                <a:latin typeface="Aptos"/>
              </a:defRPr>
            </a:pPr>
            <a:r>
              <a:rPr lang="en-IN" dirty="0"/>
              <a:t>M Mahendra Reddy </a:t>
            </a:r>
            <a:r>
              <a:rPr lang="en-IN"/>
              <a:t>(192312481)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What LearnPath AI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100" b="0">
                <a:solidFill>
                  <a:srgbClr val="2B3445"/>
                </a:solidFill>
                <a:latin typeface="Aptos"/>
              </a:defRPr>
            </a:pPr>
            <a:r>
              <a:t>LearnPath AI is a student-focused recommendation system that suggests relevant online courses by matching a learner profile with course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429000" cy="205740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73152" cy="205740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026664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Student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47288"/>
            <a:ext cx="3044952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Skills • Interests • Current level • Career goal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80360"/>
            <a:ext cx="3429000" cy="205740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880360"/>
            <a:ext cx="73152" cy="205740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3026664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AI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447288"/>
            <a:ext cx="3044952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Feature representation • Similarity calculation • Course ranking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80360"/>
            <a:ext cx="3429000" cy="205740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880360"/>
            <a:ext cx="73152" cy="2057400"/>
          </a:xfrm>
          <a:prstGeom prst="rect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3026664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Recommended Courses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447288"/>
            <a:ext cx="3044952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Ranked list • Match score • Course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Goal: make course discovery more relevant, understandable, and personalized.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Why personalized course recommendations are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B3445"/>
                </a:solidFill>
                <a:latin typeface="Aptos"/>
              </a:defRPr>
            </a:pPr>
            <a:r>
              <a:t>•  Learners often face a large number of online courses and may struggle to choose suitable ones.</a:t>
            </a:r>
          </a:p>
          <a:p>
            <a:pPr>
              <a:spcAft>
                <a:spcPts val="1800"/>
              </a:spcAft>
              <a:defRPr sz="2000">
                <a:solidFill>
                  <a:srgbClr val="2B3445"/>
                </a:solidFill>
                <a:latin typeface="Aptos"/>
              </a:defRPr>
            </a:pPr>
            <a:r>
              <a:t>•  Generic course lists do not always reflect a student's existing skills, interests, or career goals.</a:t>
            </a:r>
          </a:p>
          <a:p>
            <a:pPr>
              <a:spcAft>
                <a:spcPts val="1800"/>
              </a:spcAft>
              <a:defRPr sz="2000">
                <a:solidFill>
                  <a:srgbClr val="2B3445"/>
                </a:solidFill>
                <a:latin typeface="Aptos"/>
              </a:defRPr>
            </a:pPr>
            <a:r>
              <a:t>•  Choosing a course that is too advanced or unrelated can waste time and reduce motivation.</a:t>
            </a:r>
          </a:p>
          <a:p>
            <a:pPr>
              <a:spcAft>
                <a:spcPts val="1800"/>
              </a:spcAft>
              <a:defRPr sz="2000">
                <a:solidFill>
                  <a:srgbClr val="2B3445"/>
                </a:solidFill>
                <a:latin typeface="Aptos"/>
              </a:defRPr>
            </a:pPr>
            <a:r>
              <a:t>•  A simple recommendation system can compare student preferences with course features and rank relevant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40680"/>
            <a:ext cx="10149840" cy="73152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5440680"/>
            <a:ext cx="73152" cy="73152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5586984"/>
            <a:ext cx="97840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62447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5854894"/>
            <a:ext cx="9765792" cy="45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2B3445"/>
                </a:solidFill>
                <a:latin typeface="Aptos"/>
              </a:defRPr>
            </a:pPr>
            <a:r>
              <a:rPr dirty="0"/>
              <a:t>Recommend courses based on profile-to-course similarity; final decisions remain with the student.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What the project aims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74920" cy="150876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150876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01  Build a learner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46908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Collect skills, interests, proficiency, and career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5074920" cy="150876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73152" cy="150876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7" y="197510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02  Organize course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2395728"/>
            <a:ext cx="46908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Store course title, category, level, skills taught, and description.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5074920" cy="150876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794760"/>
            <a:ext cx="73152" cy="1508760"/>
          </a:xfrm>
          <a:prstGeom prst="rect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94106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03  Generate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361688"/>
            <a:ext cx="46908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Calculate similarity and rank courses for each student.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794760"/>
            <a:ext cx="5074920" cy="150876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3794760"/>
            <a:ext cx="73152" cy="150876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7" y="394106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04  Explain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4361688"/>
            <a:ext cx="46908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Show match scores and why each course may be relevant.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Existing System vs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How LearnPath AI improves course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74920" cy="333756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333756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1">
                <a:solidFill>
                  <a:srgbClr val="162447"/>
                </a:solidFill>
                <a:latin typeface="Aptos"/>
              </a:defRPr>
            </a:pPr>
            <a:r>
              <a:t>Existing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4690872" cy="2651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2B3445"/>
                </a:solidFill>
                <a:latin typeface="Aptos"/>
              </a:defRPr>
            </a:pPr>
            <a:r>
              <a:t>• Generic course lists</a:t>
            </a:r>
            <a:br/>
            <a:r>
              <a:t>• Manual searching across platforms</a:t>
            </a:r>
            <a:br/>
            <a:r>
              <a:t>• Limited personalization</a:t>
            </a:r>
            <a:br/>
            <a:r>
              <a:t>• Difficult to compare course relevance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074920" cy="333756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73152" cy="333756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97510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1">
                <a:solidFill>
                  <a:srgbClr val="162447"/>
                </a:solidFill>
                <a:latin typeface="Aptos"/>
              </a:defRPr>
            </a:pPr>
            <a:r>
              <a:t>Proposed LearnPath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95728"/>
            <a:ext cx="4690872" cy="2651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2B3445"/>
                </a:solidFill>
                <a:latin typeface="Aptos"/>
              </a:defRPr>
            </a:pPr>
            <a:r>
              <a:t>• Uses a learner profile</a:t>
            </a:r>
            <a:br/>
            <a:r>
              <a:t>• Matches skills and interests to course features</a:t>
            </a:r>
            <a:br/>
            <a:r>
              <a:t>• Ranks courses by similarity score</a:t>
            </a:r>
            <a:br/>
            <a:r>
              <a:t>• Displays recommendations in one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Note: this is a prototype recommendation tool; it does not replace expert career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566928" cy="566928"/>
          </a:xfrm>
          <a:prstGeom prst="ellipse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1226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508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162447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246120"/>
            <a:ext cx="1645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B3445"/>
                </a:solidFill>
                <a:latin typeface="Aptos"/>
              </a:defRPr>
            </a:pPr>
            <a:r>
              <a:t>Student skills,</a:t>
            </a:r>
            <a:br/>
            <a:r>
              <a:t>interests,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64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944368" y="2011680"/>
            <a:ext cx="566928" cy="566928"/>
          </a:xfrm>
          <a:prstGeom prst="ellipse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211226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88920"/>
            <a:ext cx="1508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162447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46120"/>
            <a:ext cx="1645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B3445"/>
                </a:solidFill>
                <a:latin typeface="Aptos"/>
              </a:defRPr>
            </a:pPr>
            <a:r>
              <a:t>Clean and encode</a:t>
            </a:r>
            <a:br/>
            <a:r>
              <a:t>course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64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882896" y="2011680"/>
            <a:ext cx="566928" cy="566928"/>
          </a:xfrm>
          <a:prstGeom prst="ellipse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2896" y="211226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788920"/>
            <a:ext cx="1508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162447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246120"/>
            <a:ext cx="1645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B3445"/>
                </a:solidFill>
                <a:latin typeface="Aptos"/>
              </a:defRPr>
            </a:pPr>
            <a:r>
              <a:t>Convert profile and</a:t>
            </a:r>
            <a:br/>
            <a:r>
              <a:t>courses to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64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6821424" y="2011680"/>
            <a:ext cx="566928" cy="566928"/>
          </a:xfrm>
          <a:prstGeom prst="ellipse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21424" y="211226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788920"/>
            <a:ext cx="1508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162447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3246120"/>
            <a:ext cx="1645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B3445"/>
                </a:solidFill>
                <a:latin typeface="Aptos"/>
              </a:defRPr>
            </a:pPr>
            <a:r>
              <a:t>Calculate cosine</a:t>
            </a:r>
            <a:br/>
            <a:r>
              <a:t>similarity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64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8759952" y="2011680"/>
            <a:ext cx="566928" cy="566928"/>
          </a:xfrm>
          <a:prstGeom prst="ellipse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59952" y="211226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788920"/>
            <a:ext cx="1508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162447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3246120"/>
            <a:ext cx="1645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B3445"/>
                </a:solidFill>
                <a:latin typeface="Aptos"/>
              </a:defRPr>
            </a:pPr>
            <a:r>
              <a:t>Sort by match</a:t>
            </a:r>
            <a:br/>
            <a: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64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698480" y="2011680"/>
            <a:ext cx="566928" cy="566928"/>
          </a:xfrm>
          <a:prstGeom prst="ellipse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0" y="211226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788920"/>
            <a:ext cx="1508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162447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3246120"/>
            <a:ext cx="1645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B3445"/>
                </a:solidFill>
                <a:latin typeface="Aptos"/>
              </a:defRPr>
            </a:pPr>
            <a:r>
              <a:t>Show top courses</a:t>
            </a:r>
            <a:br/>
            <a:r>
              <a:t>and explanations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800600"/>
            <a:ext cx="10287000" cy="86868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4800600"/>
            <a:ext cx="73152" cy="86868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15568" y="4946904"/>
            <a:ext cx="9921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Core recommendation logic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5367528"/>
            <a:ext cx="9902952" cy="1828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Student profile + course features → similarity score → ranked course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Project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Three modules used in the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611880" cy="384048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384048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83664"/>
            <a:ext cx="32461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Module 1: Profile &amp;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04288"/>
            <a:ext cx="3227832" cy="3154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Task: collect and store student information.</a:t>
            </a:r>
            <a:br/>
            <a:br/>
            <a:r>
              <a:t>Parameters: skills, interests, proficiency, career goal.</a:t>
            </a:r>
            <a:br/>
            <a:br/>
            <a:r>
              <a:t>Output: validated student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611880" cy="384048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73152" cy="384048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883664"/>
            <a:ext cx="32461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Module 2: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304288"/>
            <a:ext cx="3227832" cy="3154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Task: compare learner profile with courses.</a:t>
            </a:r>
            <a:br/>
            <a:br/>
            <a:r>
              <a:t>Parameters: feature match, category, level, goal alignment.</a:t>
            </a:r>
            <a:br/>
            <a:br/>
            <a:r>
              <a:t>Output: ranked courses and match scores.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737360"/>
            <a:ext cx="3246120" cy="384048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737360"/>
            <a:ext cx="73152" cy="3840480"/>
          </a:xfrm>
          <a:prstGeom prst="rect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88366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Module 3: Dataset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304288"/>
            <a:ext cx="2862072" cy="3154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B3445"/>
                </a:solidFill>
                <a:latin typeface="Aptos"/>
              </a:defRPr>
            </a:pPr>
            <a:r>
              <a:t>Task: prepare data and evaluate results.</a:t>
            </a:r>
            <a:br/>
            <a:br/>
            <a:r>
              <a:t>Parameters: relevance labels, Precision@K, Recall@K.</a:t>
            </a:r>
            <a:br/>
            <a:br/>
            <a:r>
              <a:t>Output: performance summary and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AI Technique and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Simple content-based filtering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37560" cy="182880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73152" cy="182880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8366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Content-Based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04288"/>
            <a:ext cx="295351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Recommends courses using attributes of the student profile and course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337560" cy="182880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73152" cy="182880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88366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TF-IDF / Feature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304288"/>
            <a:ext cx="295351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Represents text and selected course attributes as numerical vectors.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337560" cy="182880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73152" cy="1828800"/>
          </a:xfrm>
          <a:prstGeom prst="rect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62447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04288"/>
            <a:ext cx="295351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Measures the direction similarity between profile and course vectors.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59436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200" b="1">
                <a:solidFill>
                  <a:srgbClr val="3668C9"/>
                </a:solidFill>
                <a:latin typeface="Aptos"/>
              </a:defRPr>
            </a:pPr>
            <a:r>
              <a:t>similarity(A, B) = (A · B) / (||A|| × ||B||)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332720" cy="114300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B3445"/>
                </a:solidFill>
                <a:latin typeface="Aptos"/>
              </a:defRPr>
            </a:pPr>
            <a:r>
              <a:t>•  Higher similarity means a closer match between profile features and course features.</a:t>
            </a:r>
          </a:p>
          <a:p>
            <a:pPr>
              <a:spcAft>
                <a:spcPts val="400"/>
              </a:spcAft>
              <a:defRPr sz="1400">
                <a:solidFill>
                  <a:srgbClr val="2B3445"/>
                </a:solidFill>
                <a:latin typeface="Aptos"/>
              </a:defRPr>
            </a:pPr>
            <a:r>
              <a:t>•  Rank courses by score and show the top recommendations.</a:t>
            </a:r>
          </a:p>
          <a:p>
            <a:pPr>
              <a:spcAft>
                <a:spcPts val="400"/>
              </a:spcAft>
              <a:defRPr sz="1400">
                <a:solidFill>
                  <a:srgbClr val="2B3445"/>
                </a:solidFill>
                <a:latin typeface="Aptos"/>
              </a:defRPr>
            </a:pPr>
            <a:r>
              <a:t>•  The score is a match indicator, not a guarantee of course quality or learning success.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Dataset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What data is needed and how results can be assessed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74920" cy="347472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73152" cy="347472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8366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162447"/>
                </a:solidFill>
                <a:latin typeface="Aptos"/>
              </a:defRPr>
            </a:pPr>
            <a:r>
              <a:t>Course dataset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04288"/>
            <a:ext cx="4690872" cy="2788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B3445"/>
                </a:solidFill>
                <a:latin typeface="Aptos"/>
              </a:defRPr>
            </a:pPr>
            <a:r>
              <a:t>• Course ID and title</a:t>
            </a:r>
            <a:br/>
            <a:r>
              <a:t>• Category and difficulty level</a:t>
            </a:r>
            <a:br/>
            <a:r>
              <a:t>• Skills taught</a:t>
            </a:r>
            <a:br/>
            <a:r>
              <a:t>• Course description</a:t>
            </a:r>
            <a:br/>
            <a:r>
              <a:t>• Career roles supported</a:t>
            </a:r>
            <a:br/>
            <a:r>
              <a:t>• Course link (optional)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074920" cy="347472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73152" cy="347472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88366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162447"/>
                </a:solidFill>
                <a:latin typeface="Aptos"/>
              </a:defRPr>
            </a:pPr>
            <a:r>
              <a:t>Evaluation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04288"/>
            <a:ext cx="4690872" cy="2788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• Test with sample student profiles</a:t>
            </a:r>
            <a:br/>
            <a:r>
              <a:t>• Review whether top-ranked courses are relevant</a:t>
            </a:r>
            <a:br/>
            <a:r>
              <a:t>• Use Precision@K / Recall@K when relevance labels exist</a:t>
            </a:r>
            <a:br/>
            <a:r>
              <a:t>• Compare recommendations against manually selected relevant courses</a:t>
            </a:r>
            <a:br/>
            <a:r>
              <a:t>• Show example results and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0"/>
            <a:ext cx="10607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647082"/>
                </a:solidFill>
                <a:latin typeface="Aptos"/>
              </a:defRPr>
            </a:pPr>
            <a:r>
              <a:t>For a basic prototype, start with a small CSV dataset and expand it after validating the recommendation logic.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Tools and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83280" cy="123444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123444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2999232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B3445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383280" cy="123444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73152" cy="123444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19751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95728"/>
            <a:ext cx="2999232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B3445"/>
                </a:solidFill>
                <a:latin typeface="Aptos"/>
              </a:defRPr>
            </a:pPr>
            <a:r>
              <a:t>Pandas, NumPy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3383280" cy="123444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828800"/>
            <a:ext cx="73152" cy="1234440"/>
          </a:xfrm>
          <a:prstGeom prst="rect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19751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AI /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395728"/>
            <a:ext cx="2999232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B3445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66160"/>
            <a:ext cx="3383280" cy="123444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566160"/>
            <a:ext cx="73152" cy="1234440"/>
          </a:xfrm>
          <a:prstGeom prst="rect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3712463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133087"/>
            <a:ext cx="2999232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B3445"/>
                </a:solidFill>
                <a:latin typeface="Aptos"/>
              </a:defRPr>
            </a:pPr>
            <a:r>
              <a:t>Streamlit or Flask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566160"/>
            <a:ext cx="3383280" cy="123444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3566160"/>
            <a:ext cx="73152" cy="123444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3712463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133087"/>
            <a:ext cx="2999232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B3445"/>
                </a:solidFill>
                <a:latin typeface="Aptos"/>
              </a:defRPr>
            </a:pPr>
            <a:r>
              <a:t>CSV or SQLite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566160"/>
            <a:ext cx="3383280" cy="123444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66760" y="3566160"/>
            <a:ext cx="73152" cy="1234440"/>
          </a:xfrm>
          <a:prstGeom prst="rect">
            <a:avLst/>
          </a:prstGeom>
          <a:solidFill>
            <a:srgbClr val="F4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67928" y="3712463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62447"/>
                </a:solidFill>
                <a:latin typeface="Aptos"/>
              </a:defRPr>
            </a:pPr>
            <a:r>
              <a:t>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133087"/>
            <a:ext cx="2999232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B3445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6984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62447"/>
                </a:solidFill>
                <a:latin typeface="Aptos"/>
              </a:defRPr>
            </a:pPr>
            <a:r>
              <a:t>Development environment: Google Colab for model experiments; VS Code for the web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162447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What the completed prototype should demonstrate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470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B3445"/>
                </a:solidFill>
                <a:latin typeface="Aptos"/>
              </a:defRPr>
            </a:pPr>
            <a:r>
              <a:t>•  A working student profile form and course dataset.</a:t>
            </a:r>
          </a:p>
          <a:p>
            <a:pPr>
              <a:spcAft>
                <a:spcPts val="1400"/>
              </a:spcAft>
              <a:defRPr sz="1900">
                <a:solidFill>
                  <a:srgbClr val="2B3445"/>
                </a:solidFill>
                <a:latin typeface="Aptos"/>
              </a:defRPr>
            </a:pPr>
            <a:r>
              <a:t>•  Personalized course recommendations for different student profiles.</a:t>
            </a:r>
          </a:p>
          <a:p>
            <a:pPr>
              <a:spcAft>
                <a:spcPts val="1400"/>
              </a:spcAft>
              <a:defRPr sz="1900">
                <a:solidFill>
                  <a:srgbClr val="2B3445"/>
                </a:solidFill>
                <a:latin typeface="Aptos"/>
              </a:defRPr>
            </a:pPr>
            <a:r>
              <a:t>•  Ranked courses with similarity scores or match percentages.</a:t>
            </a:r>
          </a:p>
          <a:p>
            <a:pPr>
              <a:spcAft>
                <a:spcPts val="1400"/>
              </a:spcAft>
              <a:defRPr sz="1900">
                <a:solidFill>
                  <a:srgbClr val="2B3445"/>
                </a:solidFill>
                <a:latin typeface="Aptos"/>
              </a:defRPr>
            </a:pPr>
            <a:r>
              <a:t>•  An interface that explains why a course was recommended.</a:t>
            </a:r>
          </a:p>
          <a:p>
            <a:pPr>
              <a:spcAft>
                <a:spcPts val="1400"/>
              </a:spcAft>
              <a:defRPr sz="1900">
                <a:solidFill>
                  <a:srgbClr val="2B3445"/>
                </a:solidFill>
                <a:latin typeface="Aptos"/>
              </a:defRPr>
            </a:pPr>
            <a:r>
              <a:t>•  A simple evaluation report using sample profiles and relevance checks.</a:t>
            </a:r>
          </a:p>
          <a:p>
            <a:pPr>
              <a:spcAft>
                <a:spcPts val="1400"/>
              </a:spcAft>
              <a:defRPr sz="1900">
                <a:solidFill>
                  <a:srgbClr val="2B3445"/>
                </a:solidFill>
                <a:latin typeface="Aptos"/>
              </a:defRPr>
            </a:pPr>
            <a:r>
              <a:t>•  A foundation that can later be extended with user feedback or more course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715000"/>
            <a:ext cx="10241280" cy="594360"/>
          </a:xfrm>
          <a:prstGeom prst="roundRect">
            <a:avLst/>
          </a:prstGeom>
          <a:solidFill>
            <a:srgbClr val="F1F6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5715000"/>
            <a:ext cx="73152" cy="594360"/>
          </a:xfrm>
          <a:prstGeom prst="rect">
            <a:avLst/>
          </a:prstGeom>
          <a:solidFill>
            <a:srgbClr val="19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5861304"/>
            <a:ext cx="987551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162447"/>
                </a:solidFill>
                <a:latin typeface="Aptos"/>
              </a:defRPr>
            </a:pPr>
            <a:r>
              <a:t>Expected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6281928"/>
            <a:ext cx="9857232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2B3445"/>
                </a:solidFill>
                <a:latin typeface="Aptos"/>
              </a:defRPr>
            </a:pPr>
            <a:r>
              <a:t>Reduce manual searching and make course discovery more aligned with learner goals.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LearnPath AI applies a simple content-based recommendation technique to connect student skills and interests with suitable learning opportunities.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337560"/>
            <a:ext cx="978408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0">
                <a:solidFill>
                  <a:srgbClr val="D6E0F2"/>
                </a:solidFill>
                <a:latin typeface="Aptos"/>
              </a:defRPr>
            </a:pPr>
            <a:r>
              <a:t>The prototype combines a student profile, a structured course dataset, similarity-based ranking, and a clear results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45720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500" b="1">
                <a:solidFill>
                  <a:srgbClr val="19A09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80644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970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Subbu K</cp:lastModifiedBy>
  <cp:revision>2</cp:revision>
  <dcterms:created xsi:type="dcterms:W3CDTF">2013-01-27T09:14:16Z</dcterms:created>
  <dcterms:modified xsi:type="dcterms:W3CDTF">2026-10-26T06:54:52Z</dcterms:modified>
  <cp:category/>
</cp:coreProperties>
</file>